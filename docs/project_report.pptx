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9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4560"/>
  </p:normalViewPr>
  <p:slideViewPr>
    <p:cSldViewPr snapToGrid="0">
      <p:cViewPr varScale="1">
        <p:scale>
          <a:sx n="110" d="100"/>
          <a:sy n="110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4180972-A253-C240-BEA2-1E8D4D02315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229FA38-BEFC-DF44-B111-19052C006CA0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466254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0972-A253-C240-BEA2-1E8D4D02315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9FA38-BEFC-DF44-B111-19052C00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112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180972-A253-C240-BEA2-1E8D4D02315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229FA38-BEFC-DF44-B111-19052C006CA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5697797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0972-A253-C240-BEA2-1E8D4D02315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9FA38-BEFC-DF44-B111-19052C00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45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0972-A253-C240-BEA2-1E8D4D02315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9FA38-BEFC-DF44-B111-19052C00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0972-A253-C240-BEA2-1E8D4D02315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9FA38-BEFC-DF44-B111-19052C00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002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0972-A253-C240-BEA2-1E8D4D02315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9FA38-BEFC-DF44-B111-19052C00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96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180972-A253-C240-BEA2-1E8D4D02315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229FA38-BEFC-DF44-B111-19052C006CA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978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180972-A253-C240-BEA2-1E8D4D02315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229FA38-BEFC-DF44-B111-19052C006CA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1455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0972-A253-C240-BEA2-1E8D4D02315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9FA38-BEFC-DF44-B111-19052C00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136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0972-A253-C240-BEA2-1E8D4D02315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9FA38-BEFC-DF44-B111-19052C006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56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4180972-A253-C240-BEA2-1E8D4D023153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9229FA38-BEFC-DF44-B111-19052C006CA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0188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F686E-FEFC-1847-FE55-337161621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7" y="1244278"/>
            <a:ext cx="8361229" cy="1131905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Project -2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45756-187E-0C90-E560-1330FC6FE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2286" y="2376182"/>
            <a:ext cx="7596451" cy="311021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RETAILS SALES AND PROMOTIONS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	GROUP-1 :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		DEV PATEL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		            HITAXI LETHWALA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		             JAIMIN SORATHIYA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97171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0FE77-FA9B-8B0B-665F-881D48898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12DFA-E546-0E10-537F-05DB6F014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02590"/>
            <a:ext cx="9956800" cy="3520310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To analyze investment trends, sales performance, and ROI efficiency across different producers and sub-channels from 2012 to 2015.</a:t>
            </a:r>
            <a:endParaRPr lang="en-US" sz="18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To identify seasonal patterns, investment inefficiencies, and market share disparities among producers.</a:t>
            </a:r>
            <a:endParaRPr lang="en-US" sz="18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To provide recommendations for optimizing future investment decisions based on historical data insights.</a:t>
            </a:r>
            <a:endParaRPr lang="en-US" sz="18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049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E8F4-D23B-57A0-84CD-F197FCA3B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001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37AC3-692A-8C79-422B-10963C1D1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300"/>
            <a:ext cx="10007600" cy="4292600"/>
          </a:xfrm>
        </p:spPr>
        <p:txBody>
          <a:bodyPr>
            <a:normAutofit lnSpcReduction="10000"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"How can companies optimize their investment strategies across different sub-channels and sub-categories to maximize ROI while minimizing inefficiencies in promotional spending?"</a:t>
            </a:r>
            <a:endParaRPr lang="en-US" sz="18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This problem statement encapsulates the core issue observed across all dashboards:</a:t>
            </a:r>
            <a:endParaRPr lang="en-US" sz="18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Misaligned investment and sales performance</a:t>
            </a:r>
            <a:endParaRPr lang="en-US" sz="18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Market share disparity among producers</a:t>
            </a:r>
            <a:endParaRPr lang="en-US" sz="18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	Seasonal or strategic fluctuations affecting ROI</a:t>
            </a:r>
            <a:endParaRPr lang="en-US" sz="18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Potential outliers or inefficiencies in investment allocation</a:t>
            </a:r>
            <a:endParaRPr lang="en-US" sz="18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By addressing this, companies can achieve sustainable revenue growth while minimizing wasted expenditures.</a:t>
            </a:r>
            <a:endParaRPr lang="en-US" sz="18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777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F099-CDB5-4BF8-08AC-4A88DABE6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509" y="651076"/>
            <a:ext cx="3952754" cy="14859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DATASET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INFORMATION</a:t>
            </a:r>
          </a:p>
        </p:txBody>
      </p:sp>
      <p:pic>
        <p:nvPicPr>
          <p:cNvPr id="9" name="Picture 8" descr="A table of numbers and a number of numbers&#10;&#10;AI-generated content may be incorrect.">
            <a:extLst>
              <a:ext uri="{FF2B5EF4-FFF2-40B4-BE49-F238E27FC236}">
                <a16:creationId xmlns:a16="http://schemas.microsoft.com/office/drawing/2014/main" id="{8C147417-588F-784E-AD24-730E99F0B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654" y="266368"/>
            <a:ext cx="6021837" cy="632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4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BCFDB-3848-29B5-191F-51D3E8FC5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417" y="465881"/>
            <a:ext cx="9983165" cy="63371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Monthly Distribution of ROI Count by Producer and Sub-category </a:t>
            </a:r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784CAC0E-032A-FD9F-DE46-D23A24742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906" y="1312391"/>
            <a:ext cx="7772400" cy="45993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C865C2-FB2F-D50E-CA4E-902D6E0717DD}"/>
              </a:ext>
            </a:extLst>
          </p:cNvPr>
          <p:cNvSpPr txBox="1"/>
          <p:nvPr/>
        </p:nvSpPr>
        <p:spPr>
          <a:xfrm>
            <a:off x="972273" y="1331089"/>
            <a:ext cx="2882097" cy="5246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Description:</a:t>
            </a:r>
            <a:endParaRPr lang="en-US" sz="15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5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This stacked bar chart displays the count of vol*ROI over different months for various producers across three sub-categories.</a:t>
            </a:r>
            <a:endParaRPr lang="en-US" sz="15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5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Each producer is analyzed individually across months, and different sub-channels are represented in different colors.</a:t>
            </a:r>
            <a:endParaRPr lang="en-US" sz="15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5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chart enables a comparison of ROI trends over time, allowing us to determine seasonal patterns and variations in sales performance.</a:t>
            </a:r>
            <a:endParaRPr lang="en-US" sz="15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87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E595B2-AFF9-208E-BE18-4D37DFF91F07}"/>
              </a:ext>
            </a:extLst>
          </p:cNvPr>
          <p:cNvSpPr txBox="1"/>
          <p:nvPr/>
        </p:nvSpPr>
        <p:spPr>
          <a:xfrm>
            <a:off x="1157469" y="671332"/>
            <a:ext cx="10220446" cy="373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en-US" sz="2400" kern="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R="0"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24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KEY INSIGHTS:</a:t>
            </a:r>
          </a:p>
          <a:p>
            <a:pPr marR="0"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2400" kern="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	- </a:t>
            </a:r>
            <a:r>
              <a:rPr lang="en-US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Some companies have a consistent trend of ROI count throughout the months, while others  	   display fluctuations.</a:t>
            </a:r>
            <a:endParaRPr lang="en-US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		- The sub-channel composition (stacked colors) varies across producers, suggesting different 			   market strategies.</a:t>
            </a:r>
            <a:endParaRPr lang="en-US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		- Some producers show a drop-in activity in certain months, which could be attributed to 			  seasonality, lack of promotions, or demand fluctuations.</a:t>
            </a:r>
            <a:endParaRPr lang="en-US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R="0"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en-US" sz="16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996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208AD-3E7D-89A9-9DB9-64CB7847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911" y="685800"/>
            <a:ext cx="9601200" cy="506392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ROI % System Performance by Producer</a:t>
            </a:r>
            <a:br>
              <a:rPr lang="en-U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5D839365-41F2-8311-362B-2D4F0C21E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253" y="1192192"/>
            <a:ext cx="6583152" cy="5459959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F2427F-DCC1-D422-5F66-528411D00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405" y="1192192"/>
            <a:ext cx="1466731" cy="27513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9CD349-3A3D-1D1C-7801-A5195F218147}"/>
              </a:ext>
            </a:extLst>
          </p:cNvPr>
          <p:cNvSpPr txBox="1"/>
          <p:nvPr/>
        </p:nvSpPr>
        <p:spPr>
          <a:xfrm>
            <a:off x="1076446" y="1650970"/>
            <a:ext cx="2801073" cy="4496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Description: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5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bar chart compares different producers' contributions to the total ROI percentage.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5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 ROI% System metric is represented, highlighting the share of each company in different sub-categories.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5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Y-axis represents % of total count of vol*ROI, meaning this chart showcases market share distribution.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548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1D8F8A-C5EE-6D98-F26B-BBB38E1D701A}"/>
              </a:ext>
            </a:extLst>
          </p:cNvPr>
          <p:cNvSpPr txBox="1"/>
          <p:nvPr/>
        </p:nvSpPr>
        <p:spPr>
          <a:xfrm>
            <a:off x="1205696" y="1273215"/>
            <a:ext cx="9987023" cy="3855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Some companies (e.g., Company III, Company IV) have a higher share of ROI across different sub-	 	  categories.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Company II has low contributions, possibly indicating a weaker market presence or inefficient 	  	   promotional strategies.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The significant variation between companies implies different levels of investment efficiency and 	  sales strategy effectiveness.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The presence of negative ROI values suggests that some companies are experiencing financial 	 	   losses or inefficient marketing investments.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054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477AF-252B-4494-DF6F-C11AD2920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549" y="570054"/>
            <a:ext cx="9601200" cy="541116"/>
          </a:xfrm>
        </p:spPr>
        <p:txBody>
          <a:bodyPr/>
          <a:lstStyle/>
          <a:p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Investment vs. Sales by Sub-category and Producer (2014-2015) </a:t>
            </a:r>
          </a:p>
        </p:txBody>
      </p:sp>
      <p:pic>
        <p:nvPicPr>
          <p:cNvPr id="5" name="Picture 4" descr="A screenshot of a data report&#10;&#10;AI-generated content may be incorrect.">
            <a:extLst>
              <a:ext uri="{FF2B5EF4-FFF2-40B4-BE49-F238E27FC236}">
                <a16:creationId xmlns:a16="http://schemas.microsoft.com/office/drawing/2014/main" id="{0DFE4AEA-58D2-7B50-7960-82CDF876C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199" y="1261641"/>
            <a:ext cx="8960357" cy="4942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0493AB-E30E-DF02-9E9A-5967D260F860}"/>
              </a:ext>
            </a:extLst>
          </p:cNvPr>
          <p:cNvSpPr txBox="1"/>
          <p:nvPr/>
        </p:nvSpPr>
        <p:spPr>
          <a:xfrm>
            <a:off x="937549" y="1446836"/>
            <a:ext cx="1967696" cy="499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Description: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2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stacked bar chart visualizes the total investment and value sales for different producers, sub-channels, and sub-categories.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2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is split into 2014 and 2015, allowing for a comparative analysis of investment and sales over time.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2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 producer's performance is broken down by sub-category and sub-channel, helping in understanding investment efficiency.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583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45D13A-380D-2D51-7599-1FCB7F792858}"/>
              </a:ext>
            </a:extLst>
          </p:cNvPr>
          <p:cNvSpPr txBox="1"/>
          <p:nvPr/>
        </p:nvSpPr>
        <p:spPr>
          <a:xfrm>
            <a:off x="1261641" y="1261641"/>
            <a:ext cx="9468091" cy="3536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 INSIGHTS :</a:t>
            </a:r>
            <a:endParaRPr lang="en-US" sz="24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Some producers invested heavily in 2015, while others maintained a similar level from 2014.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The distribution of sales and investment varies across sub-channels, indicating  	 	  	 	  different market penetration strategies.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A mismatch between investment and sales in some cases suggests that high spending does 	  	  not always correlate with higher revenue.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Identifying the best-performing sub-channels can help companies optimize their future 	 	  promotional efforts.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563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270AB-190E-1B3A-51C7-AB93EFE7D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061" y="627926"/>
            <a:ext cx="9601200" cy="471668"/>
          </a:xfrm>
        </p:spPr>
        <p:txBody>
          <a:bodyPr>
            <a:normAutofit fontScale="90000"/>
          </a:bodyPr>
          <a:lstStyle/>
          <a:p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ROI and Investment Analysis by Sub-category and Sub-channel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EE1D4BA0-357D-3C10-A824-8021C0551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493" y="1356401"/>
            <a:ext cx="8735829" cy="4873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DF27CF-ABFA-6FD3-19FA-254A5073F4D2}"/>
              </a:ext>
            </a:extLst>
          </p:cNvPr>
          <p:cNvSpPr txBox="1"/>
          <p:nvPr/>
        </p:nvSpPr>
        <p:spPr>
          <a:xfrm>
            <a:off x="978061" y="1414348"/>
            <a:ext cx="2133439" cy="4527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Description: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3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bar chart highlights the percentage of total investment per system across different sub-channels and sub-categories.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3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 rightmost bar shows an anomaly, indicating either an outlier or a significant data skew.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3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 Outlier filter is applied, meaning only data marked as N/Y  is displayed.</a:t>
            </a:r>
          </a:p>
        </p:txBody>
      </p:sp>
    </p:spTree>
    <p:extLst>
      <p:ext uri="{BB962C8B-B14F-4D97-AF65-F5344CB8AC3E}">
        <p14:creationId xmlns:p14="http://schemas.microsoft.com/office/powerpoint/2010/main" val="4119420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09E4AA-B0B5-46BF-88C1-BB2EF75F1961}"/>
              </a:ext>
            </a:extLst>
          </p:cNvPr>
          <p:cNvSpPr txBox="1"/>
          <p:nvPr/>
        </p:nvSpPr>
        <p:spPr>
          <a:xfrm>
            <a:off x="1257300" y="1295400"/>
            <a:ext cx="9410700" cy="3855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 INSIGHTS:</a:t>
            </a:r>
            <a:endParaRPr lang="en-US" sz="18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	- Sub-channel D has an unusually high investment proportion, making it a potential high-cost, 	  high-risk channel.</a:t>
            </a:r>
            <a:endParaRPr lang="en-US" sz="18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	- The disproportionate investment in certain sub-channels suggests strategic misallocation or 	   heavy reliance on specific channels.</a:t>
            </a:r>
            <a:endParaRPr lang="en-US" sz="18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	- The presence of extreme values (outliers) in earlier years suggests potential data 		  	 	   inconsistencies, operational inefficiencies, or market shocks.</a:t>
            </a:r>
            <a:endParaRPr lang="en-US" sz="18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	- Comparing this data to more recent years could help determine if these 	 	 		 	 	  inefficiencies persisted or improved over time.</a:t>
            </a:r>
            <a:endParaRPr lang="en-US" sz="18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835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69E17-256E-C863-F35B-A9605D5C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698500"/>
            <a:ext cx="9601200" cy="774700"/>
          </a:xfrm>
        </p:spPr>
        <p:txBody>
          <a:bodyPr/>
          <a:lstStyle/>
          <a:p>
            <a:r>
              <a:rPr lang="en-US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B3F6-AEBC-DE44-4613-C3DB436FC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0" y="1581150"/>
            <a:ext cx="10985500" cy="4413250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ROI Variations Across Producers and Sub-channels: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ROI trends differ significantly among producers and sub-channels.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Some companies achieve consistent returns, while others show fluctuations due to seasonality or inconsistent  	  promotions.</a:t>
            </a:r>
          </a:p>
          <a:p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Market Share Distribution: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Company III and IV dominate in terms of ROI.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Company II has lower contributions, indicating weaker market presence or inefficient promotional strategies.</a:t>
            </a:r>
          </a:p>
          <a:p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Investment Inefficiencies: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Higher spending does not always lead to higher revenue.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This reveals the need for better allocation strategies to maximize ROI.</a:t>
            </a:r>
          </a:p>
          <a:p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Outliers and Anomalies: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Certain sub-channels show operational inefficiencies or irregular spending patterns.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Addressing these issues can help companies optimize future investments, reduce financial losses, and improve profitability. </a:t>
            </a:r>
          </a:p>
          <a:p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43947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146</TotalTime>
  <Words>944</Words>
  <Application>Microsoft Macintosh PowerPoint</Application>
  <PresentationFormat>Widescreen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Calibri</vt:lpstr>
      <vt:lpstr>Franklin Gothic Book</vt:lpstr>
      <vt:lpstr>Symbol</vt:lpstr>
      <vt:lpstr>Crop</vt:lpstr>
      <vt:lpstr>Project -2 </vt:lpstr>
      <vt:lpstr>OBJECTIVE</vt:lpstr>
      <vt:lpstr>PROBLEM STATEMENT</vt:lpstr>
      <vt:lpstr>DATASET INFORMATION</vt:lpstr>
      <vt:lpstr>Monthly Distribution of ROI Count by Producer and Sub-category </vt:lpstr>
      <vt:lpstr>PowerPoint Presentation</vt:lpstr>
      <vt:lpstr>ROI % System Performance by Producer </vt:lpstr>
      <vt:lpstr>PowerPoint Presentation</vt:lpstr>
      <vt:lpstr>Investment vs. Sales by Sub-category and Producer (2014-2015) </vt:lpstr>
      <vt:lpstr>PowerPoint Presentation</vt:lpstr>
      <vt:lpstr>ROI and Investment Analysis by Sub-category and Sub-channel </vt:lpstr>
      <vt:lpstr>PowerPoint Presentation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 Mittalkumar Patel</dc:creator>
  <cp:lastModifiedBy>Dev Mittalkumar Patel</cp:lastModifiedBy>
  <cp:revision>4</cp:revision>
  <dcterms:created xsi:type="dcterms:W3CDTF">2025-03-31T07:16:49Z</dcterms:created>
  <dcterms:modified xsi:type="dcterms:W3CDTF">2025-03-31T20:58:38Z</dcterms:modified>
</cp:coreProperties>
</file>